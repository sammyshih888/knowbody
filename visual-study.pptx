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2fcd64cd3147b9" /><Relationship Type="http://schemas.openxmlformats.org/officeDocument/2006/relationships/extended-properties" Target="/docProps/app.xml" Id="R672d30f3962741d9" /><Relationship Type="http://schemas.openxmlformats.org/officeDocument/2006/relationships/officeDocument" Target="/ppt/presentation.xml" Id="R38a5fa889d4f4f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0642cf0f184d20"/>
  </p:sldMasterIdLst>
  <p:notesMasterIdLst>
    <p:notesMasterId xmlns:r="http://schemas.openxmlformats.org/officeDocument/2006/relationships" r:id="Rc91d5dd32e9b4aed"/>
  </p:notesMasterIdLst>
  <p:sldIdLst>
    <p:sldId xmlns:r="http://schemas.openxmlformats.org/officeDocument/2006/relationships" id="256" r:id="Rcc6eee0abf4e46ec"/>
    <p:sldId xmlns:r="http://schemas.openxmlformats.org/officeDocument/2006/relationships" id="257" r:id="Rd2fcb9f35cf6438a"/>
  </p:sldIdLst>
  <p:sldSz cx="15240000" cy="85725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dbd77a513c46a1" /><Relationship Type="http://schemas.openxmlformats.org/officeDocument/2006/relationships/slideMaster" Target="/ppt/slideMasters/slideMaster1.xml" Id="R2f0642cf0f184d20" /><Relationship Type="http://schemas.openxmlformats.org/officeDocument/2006/relationships/notesMaster" Target="/ppt/notesMasters/notesMaster1.xml" Id="Rc91d5dd32e9b4aed" /><Relationship Type="http://schemas.openxmlformats.org/officeDocument/2006/relationships/presProps" Target="/ppt/presProps.xml" Id="R1495feb8a66c4a20" /><Relationship Type="http://schemas.openxmlformats.org/officeDocument/2006/relationships/viewProps" Target="/ppt/viewProps.xml" Id="R9f721cdfd9a54097" /><Relationship Type="http://schemas.openxmlformats.org/officeDocument/2006/relationships/tableStyles" Target="/ppt/tableStyles.xml" Id="R81c2b3db63b44b38" /><Relationship Type="http://schemas.openxmlformats.org/officeDocument/2006/relationships/slide" Target="/ppt/slides/slide1.xml" Id="Rcc6eee0abf4e46ec" /><Relationship Type="http://schemas.openxmlformats.org/officeDocument/2006/relationships/slide" Target="/ppt/slides/slide2.xml" Id="Rd2fcb9f35cf643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f3deee43f84c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0938a3e3f9486f" /><Relationship Type="http://schemas.openxmlformats.org/officeDocument/2006/relationships/notesMaster" Target="/ppt/notesMasters/notesMaster1.xml" Id="Rb3fc6bea5b054b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3e7fbba735497c" /><Relationship Type="http://schemas.openxmlformats.org/officeDocument/2006/relationships/notesMaster" Target="/ppt/notesMasters/notesMaster1.xml" Id="R3e829ddd209c4b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 and attribution:</a:t>
            </a:r>
          </a:p>
          <a:p xmlns:a="http://schemas.openxmlformats.org/drawingml/2006/main">
            <a:r>
              <a:t>Penguin book cover: https://www.indesignskills.com/inspiration/fonts-for-book-covers/ (image shown for visual criticism). Design context: https://designmuseum.org/penguin-books</a:t>
            </a:r>
          </a:p>
          <a:p xmlns:a="http://schemas.openxmlformats.org/drawingml/2006/main">
            <a:r>
              <a:t>DM Sans by Colophon Foundry: https://fonts.google.com/specimen/DM+Sans . Browser specimen uses sample text entered for this study.</a:t>
            </a:r>
          </a:p>
          <a:p xmlns:a="http://schemas.openxmlformats.org/drawingml/2006/main">
            <a:r>
              <a:t>Georgia heading is my own type trial, not a sourced image.</a:t>
            </a:r>
          </a:p>
          <a:p xmlns:a="http://schemas.openxmlformats.org/drawingml/2006/main">
            <a:r>
              <a:t>Implementation: web/style.css pairs Georgia main and brief headings with DM Sans controls and source text. Comparison quotes remain 16px with generous line spacing. Slide annotations use Arial for portable presentation rendering.</a:t>
            </a:r>
          </a:p>
          <a:p xmlns:a="http://schemas.openxmlformats.org/drawingml/2006/main">
            <a:r>
              <a:t>The reference subject matter is not part of Knowbody.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 and attribution:</a:t>
            </a:r>
          </a:p>
          <a:p xmlns:a="http://schemas.openxmlformats.org/drawingml/2006/main">
            <a:r>
              <a:t>Daniil Silantev, Moss-covered forest floor with tall trees: https://unsplash.com/photos/y0VQWlV71os . Unsplash photograph used for this educational visual study.</a:t>
            </a:r>
          </a:p>
          <a:p xmlns:a="http://schemas.openxmlformats.org/drawingml/2006/main">
            <a:r>
              <a:t>Ogata Kōrin, Irises at Yatsuhashi (Eight Bridges), after 1709. The Metropolitan Museum of Art, object 39664, public domain: https://www.metmuseum.org/art/collection/search/39664 . Image: https://images.metmuseum.org/CRDImages/as/web-large/DT231.jpg</a:t>
            </a:r>
          </a:p>
          <a:p xmlns:a="http://schemas.openxmlformats.org/drawingml/2006/main">
            <a:r>
              <a:t>The hex values are adapted interface colors, not exact sampled colors.</a:t>
            </a:r>
          </a:p>
          <a:p xmlns:a="http://schemas.openxmlformats.org/drawingml/2006/main">
            <a:r>
              <a:t>Implementation: web/style.css and web/App.vue. Sparse abstract leaves use #E5E9DE on #F8F8F4, the sheet uses #FBFAF6, and both offers share #EDF1E6. Dark green marks actions and initials; rust marks input errors. Photographic foliage and a repeating print were explored and rejected because they distracted from the exchange. Unavailable and unshared states use neutral badges and explicit 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afa820a747498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495c3efe0a438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418668fe0b41d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23225c5148425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b08dfccc984d3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3f4c374bfc419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BD4DC16-61EB-4111-B0E5-49ADBD47A4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8B3E796-E2D9-42BE-9EAA-491BE807345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A7403D6-AEB6-4528-9575-26FBC30706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DA0FF04-DA47-4AAB-B24F-7DDC6A179A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F4DBAEF-EB34-486E-831A-C07AB48F2C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4F376B7-AC57-40A9-920D-DA4A8F2E9B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0CC9048-E6C2-4EDD-BCD8-EDA452FD15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0EF616F-64BD-49F0-A880-1E0319518AF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84031EC-19CD-4C3C-BE43-5D99004CF8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A9B0E5D-90D7-4E06-9B26-8443095CA0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cb4dfc529a49e1" /><Relationship Type="http://schemas.openxmlformats.org/officeDocument/2006/relationships/slideLayout" Target="/ppt/slideLayouts/slideLayout1.xml" Id="Rde61197bd3744bdf" /><Relationship Type="http://schemas.openxmlformats.org/officeDocument/2006/relationships/slideLayout" Target="/ppt/slideLayouts/slideLayout2.xml" Id="Re018a424c29d4b8a" /><Relationship Type="http://schemas.openxmlformats.org/officeDocument/2006/relationships/slideLayout" Target="/ppt/slideLayouts/slideLayout3.xml" Id="Rd13fc144ce254879" /><Relationship Type="http://schemas.openxmlformats.org/officeDocument/2006/relationships/slideLayout" Target="/ppt/slideLayouts/slideLayout4.xml" Id="Rfcd92ca92dc64e0d" /><Relationship Type="http://schemas.openxmlformats.org/officeDocument/2006/relationships/slideLayout" Target="/ppt/slideLayouts/slideLayout5.xml" Id="R9b902d4681a84623" /><Relationship Type="http://schemas.openxmlformats.org/officeDocument/2006/relationships/slideLayout" Target="/ppt/slideLayouts/slideLayout6.xml" Id="R5878d7896b5946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61197bd3744bdf"/>
    <p:sldLayoutId xmlns:r="http://schemas.openxmlformats.org/officeDocument/2006/relationships" id="2147483650" r:id="Re018a424c29d4b8a"/>
    <p:sldLayoutId xmlns:r="http://schemas.openxmlformats.org/officeDocument/2006/relationships" id="2147483651" r:id="Rd13fc144ce254879"/>
    <p:sldLayoutId xmlns:r="http://schemas.openxmlformats.org/officeDocument/2006/relationships" id="2147483652" r:id="Rfcd92ca92dc64e0d"/>
    <p:sldLayoutId xmlns:r="http://schemas.openxmlformats.org/officeDocument/2006/relationships" id="2147483653" r:id="R9b902d4681a84623"/>
    <p:sldLayoutId xmlns:r="http://schemas.openxmlformats.org/officeDocument/2006/relationships" id="2147483654" r:id="R5878d7896b5946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88f2af57cd4ccf" /><Relationship Type="http://schemas.openxmlformats.org/officeDocument/2006/relationships/image" Target="/ppt/media/image.jpeg" Id="R75c561227a1e4422" /><Relationship Type="http://schemas.openxmlformats.org/officeDocument/2006/relationships/image" Target="/ppt/media/image2.jpeg" Id="R5f66ed639c6945dc" /><Relationship Type="http://schemas.openxmlformats.org/officeDocument/2006/relationships/notesSlide" Target="/ppt/notesSlides/notesSlide1.xml" Id="R8bf419edeca347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838b2adae44278" /><Relationship Type="http://schemas.openxmlformats.org/officeDocument/2006/relationships/image" Target="/ppt/media/image3.jpeg" Id="Rafeb462f28c84840" /><Relationship Type="http://schemas.openxmlformats.org/officeDocument/2006/relationships/image" Target="/ppt/media/image4.jpeg" Id="R66f1e15c2bf04428" /><Relationship Type="http://schemas.openxmlformats.org/officeDocument/2006/relationships/notesSlide" Target="/ppt/notesSlides/notesSlide2.xml" Id="R3bfc548bae3341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FD0E73DF-A17A-4B91-82E6-80F49949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238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4B3C"/>
                </a:solidFill>
                <a:latin typeface="Arial"/>
                <a:ea typeface="Arial"/>
                <a:cs typeface="Arial"/>
              </a:rPr>
              <a:t>Typography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BADB5B-CE38-4A4B-8FCB-534F72E9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0">
                <a:solidFill>
                  <a:srgbClr val="53604F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3604F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3604F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3604F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3604F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3604F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3604F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3604F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3604F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360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3604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04F"/>
                </a:solidFill>
                <a:latin typeface="Arial"/>
                <a:ea typeface="Arial"/>
                <a:cs typeface="Arial"/>
              </a:rPr>
              <a:t>Print hierarchy and screen readability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AAADA03-B7F4-4ADE-8CCB-575CC523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4387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3604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3604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3604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3604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3604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3604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3604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3604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3604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360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3604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04F"/>
                </a:solidFill>
                <a:latin typeface="Arial"/>
                <a:ea typeface="Arial"/>
                <a:cs typeface="Arial"/>
              </a:rPr>
              <a:t>Knowbody / P3 visual study / 1 of 2</a:t>
            </a:r>
          </a:p>
        </p:txBody>
      </p:sp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9E2E0F07-AE06-4EA8-825A-8BA4560964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c561227a1e4422"/>
          <a:srcRect xmlns:a="http://schemas.openxmlformats.org/drawingml/2006/main" l="30000" t="10000" r="31000" b="18000"/>
          <a:stretch xmlns:a="http://schemas.openxmlformats.org/drawingml/2006/main"/>
        </p:blipFill>
        <p:spPr>
          <a:xfrm xmlns:a="http://schemas.openxmlformats.org/drawingml/2006/main">
            <a:off x="571500" y="1828800"/>
            <a:ext cx="2762250" cy="4343400"/>
          </a:xfrm>
          <a:prstGeom xmlns:a="http://schemas.openxmlformats.org/drawingml/2006/main" prst="rect">
            <a:avLst/>
          </a:prstGeom>
        </p:spPr>
      </p:pic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9C26150-6614-4ED8-95A9-47BE01BF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53604F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53604F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53604F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53604F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53604F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53604F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53604F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53604F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53604F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5360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5360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3604F"/>
                </a:solidFill>
                <a:latin typeface="Arial"/>
                <a:ea typeface="Arial"/>
                <a:cs typeface="Arial"/>
              </a:rPr>
              <a:t>PRINT / PENGUIN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54F7797-F927-4B91-95BA-57202197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715125"/>
            <a:ext cx="2762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824"/>
                </a:solidFill>
                <a:latin typeface="Arial"/>
                <a:ea typeface="Arial"/>
                <a:cs typeface="Arial"/>
              </a:rPr>
              <a:t>The title stands out through weight and spacing. I borrowed that clear hierarchy.</a:t>
            </a:r>
          </a:p>
        </p:txBody>
      </p:sp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6466AC67-3FB7-4F15-AB21-71841D7490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66ed639c6945dc"/>
          <a:srcRect xmlns:a="http://schemas.openxmlformats.org/drawingml/2006/main" l="12000" t="58000" r="4000" b="3500"/>
          <a:stretch xmlns:a="http://schemas.openxmlformats.org/drawingml/2006/main"/>
        </p:blipFill>
        <p:spPr>
          <a:xfrm xmlns:a="http://schemas.openxmlformats.org/drawingml/2006/main">
            <a:off x="3857625" y="1905000"/>
            <a:ext cx="6762750" cy="2000250"/>
          </a:xfrm>
          <a:prstGeom xmlns:a="http://schemas.openxmlformats.org/drawingml/2006/main" prst="rect">
            <a:avLst/>
          </a:prstGeom>
        </p:spPr>
      </p:pic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82E9355-4CD4-401A-801D-DD236991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029075"/>
            <a:ext cx="676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53604F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53604F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53604F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53604F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53604F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53604F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53604F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53604F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53604F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5360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5360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3604F"/>
                </a:solidFill>
                <a:latin typeface="Arial"/>
                <a:ea typeface="Arial"/>
                <a:cs typeface="Arial"/>
              </a:rPr>
              <a:t>SCREEN / DM SANS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DA31569-E7F8-4A15-811A-E6B88A17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391025"/>
            <a:ext cx="676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2824"/>
                </a:solidFill>
                <a:latin typeface="Arial"/>
                <a:ea typeface="Arial"/>
                <a:cs typeface="Arial"/>
              </a:rPr>
              <a:t>The rounded shapes fit a personal introduction. I kept DM Sans for labels, forms, and source excerpts.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0E94C6F-607C-4DD2-BE74-01CA9B98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534025"/>
            <a:ext cx="676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53604F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53604F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53604F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53604F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53604F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53604F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53604F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53604F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53604F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5360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5360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3604F"/>
                </a:solidFill>
                <a:latin typeface="Arial"/>
                <a:ea typeface="Arial"/>
                <a:cs typeface="Arial"/>
              </a:rPr>
              <a:t>HEADINGS / GEORGIA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6CC1B73-CC10-43E3-996F-DCFD9102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915025"/>
            <a:ext cx="676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700" b="0">
                <a:solidFill>
                  <a:srgbClr val="242824"/>
                </a:solidFill>
                <a:latin typeface="Georgia"/>
                <a:ea typeface="Georgia"/>
                <a:cs typeface="Georgia"/>
              </a:defRPr>
            </a:defPPr>
            <a:lvl1pPr>
              <a:defRPr sz="2700" b="0">
                <a:solidFill>
                  <a:srgbClr val="242824"/>
                </a:solidFill>
                <a:latin typeface="Georgia"/>
                <a:ea typeface="Georgia"/>
                <a:cs typeface="Georgia"/>
              </a:defRPr>
            </a:lvl1pPr>
            <a:lvl2pPr>
              <a:defRPr sz="2700" b="0">
                <a:solidFill>
                  <a:srgbClr val="242824"/>
                </a:solidFill>
                <a:latin typeface="Georgia"/>
                <a:ea typeface="Georgia"/>
                <a:cs typeface="Georgia"/>
              </a:defRPr>
            </a:lvl2pPr>
            <a:lvl3pPr>
              <a:defRPr sz="2700" b="0">
                <a:solidFill>
                  <a:srgbClr val="242824"/>
                </a:solidFill>
                <a:latin typeface="Georgia"/>
                <a:ea typeface="Georgia"/>
                <a:cs typeface="Georgia"/>
              </a:defRPr>
            </a:lvl3pPr>
            <a:lvl4pPr>
              <a:defRPr sz="2700" b="0">
                <a:solidFill>
                  <a:srgbClr val="242824"/>
                </a:solidFill>
                <a:latin typeface="Georgia"/>
                <a:ea typeface="Georgia"/>
                <a:cs typeface="Georgia"/>
              </a:defRPr>
            </a:lvl4pPr>
            <a:lvl5pPr>
              <a:defRPr sz="2700" b="0">
                <a:solidFill>
                  <a:srgbClr val="242824"/>
                </a:solidFill>
                <a:latin typeface="Georgia"/>
                <a:ea typeface="Georgia"/>
                <a:cs typeface="Georgia"/>
              </a:defRPr>
            </a:lvl5pPr>
            <a:lvl6pPr>
              <a:defRPr sz="2700" b="0">
                <a:solidFill>
                  <a:srgbClr val="242824"/>
                </a:solidFill>
                <a:latin typeface="Georgia"/>
                <a:ea typeface="Georgia"/>
                <a:cs typeface="Georgia"/>
              </a:defRPr>
            </a:lvl6pPr>
            <a:lvl7pPr>
              <a:defRPr sz="2700" b="0">
                <a:solidFill>
                  <a:srgbClr val="242824"/>
                </a:solidFill>
                <a:latin typeface="Georgia"/>
                <a:ea typeface="Georgia"/>
                <a:cs typeface="Georgia"/>
              </a:defRPr>
            </a:lvl7pPr>
            <a:lvl8pPr>
              <a:defRPr sz="2700" b="0">
                <a:solidFill>
                  <a:srgbClr val="242824"/>
                </a:solidFill>
                <a:latin typeface="Georgia"/>
                <a:ea typeface="Georgia"/>
                <a:cs typeface="Georgia"/>
              </a:defRPr>
            </a:lvl8pPr>
            <a:lvl9pPr>
              <a:defRPr sz="2700" b="0">
                <a:solidFill>
                  <a:srgbClr val="242824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buNone/>
              <a:defRPr sz="2700" b="0">
                <a:solidFill>
                  <a:srgbClr val="242824"/>
                </a:solidFill>
                <a:latin typeface="Georgia"/>
                <a:ea typeface="Georgia"/>
                <a:cs typeface="Georgia"/>
              </a:defRPr>
            </a:pPr>
            <a:r>
              <a:rPr sz="2700" b="0">
                <a:solidFill>
                  <a:srgbClr val="242824"/>
                </a:solidFill>
                <a:latin typeface="Georgia"/>
                <a:ea typeface="Georgia"/>
                <a:cs typeface="Georgia"/>
              </a:rPr>
              <a:t>What would you like to share?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F2357F4-B350-4A30-8EA5-E66B4C09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6762750"/>
            <a:ext cx="676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2824"/>
                </a:solidFill>
                <a:latin typeface="Arial"/>
                <a:ea typeface="Arial"/>
                <a:cs typeface="Arial"/>
              </a:rPr>
              <a:t>I chose Georgia for the main headings to give the app more character. DM Sans keeps the detailed reading familiar.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715A8DE6-3486-42E0-B0D6-EB3426CA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1857375"/>
            <a:ext cx="338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64B3C"/>
                </a:solidFill>
                <a:latin typeface="Arial"/>
                <a:ea typeface="Arial"/>
                <a:cs typeface="Arial"/>
              </a:rPr>
              <a:t>Used: two type roles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8475E6AE-E3FC-48FE-BFE4-B3089A925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295525"/>
            <a:ext cx="3381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824"/>
                </a:solidFill>
                <a:latin typeface="Arial"/>
                <a:ea typeface="Arial"/>
                <a:cs typeface="Arial"/>
              </a:rPr>
              <a:t>Large serif headings introduce each section. Smaller sans serif labels and excerpts keep the tasks clear and easy to read.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1D9CA20E-9E1F-4381-973B-355A83D6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952875"/>
            <a:ext cx="338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64B3C"/>
                </a:solidFill>
                <a:latin typeface="Arial"/>
                <a:ea typeface="Arial"/>
                <a:cs typeface="Arial"/>
              </a:rPr>
              <a:t>Used: space to read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7D98F89-E655-4B33-9F5A-2413BA01E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391025"/>
            <a:ext cx="3381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824"/>
                </a:solidFill>
                <a:latin typeface="Arial"/>
                <a:ea typeface="Arial"/>
                <a:cs typeface="Arial"/>
              </a:rPr>
              <a:t>I tightened gaps between related controls, while leaving quotes room to read. Each passage stays beside its source and date.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0A35B01-550B-41A4-93CC-887F7C72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048375"/>
            <a:ext cx="338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64B3C"/>
                </a:solidFill>
                <a:latin typeface="Arial"/>
                <a:ea typeface="Arial"/>
                <a:cs typeface="Arial"/>
              </a:rPr>
              <a:t>Left out: display styles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3F6E6B67-66DE-492F-A7B8-3344844B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381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824"/>
                </a:solidFill>
                <a:latin typeface="Arial"/>
                <a:ea typeface="Arial"/>
                <a:cs typeface="Arial"/>
              </a:rPr>
              <a:t>The book’s all-caps title works on a cover. I kept sentence case in forms and source passages for easier reading.</a:t>
            </a:r>
          </a:p>
        </p:txBody>
      </p:sp>
    </p:spTree>
    <p:extLst>
      <p:ext uri="{BB962C8B-B14F-4D97-AF65-F5344CB8AC3E}">
        <p14:creationId xmlns:p14="http://schemas.microsoft.com/office/powerpoint/2010/main" val="8245415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3D313CE-7097-46EF-BDB5-D664965F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238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4B3C"/>
                </a:solidFill>
                <a:latin typeface="Arial"/>
                <a:ea typeface="Arial"/>
                <a:cs typeface="Arial"/>
              </a:rPr>
              <a:t>Color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694D2D2-C321-4233-A1FC-F21F2CF0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0">
                <a:solidFill>
                  <a:srgbClr val="53604F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3604F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3604F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3604F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3604F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3604F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3604F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3604F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3604F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360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3604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04F"/>
                </a:solidFill>
                <a:latin typeface="Arial"/>
                <a:ea typeface="Arial"/>
                <a:cs typeface="Arial"/>
              </a:rPr>
              <a:t>Dark greens, soft backgrounds, and a small amount of emphasis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54F224C-F392-4D4C-9E47-00FC3606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43875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3604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3604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3604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3604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3604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3604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3604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3604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3604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360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3604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04F"/>
                </a:solidFill>
                <a:latin typeface="Arial"/>
                <a:ea typeface="Arial"/>
                <a:cs typeface="Arial"/>
              </a:rPr>
              <a:t>Knowbody / P3 visual study / 2 of 2</a:t>
            </a:r>
          </a:p>
        </p:txBody>
      </p:sp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953392D5-9CEB-4B08-8F7D-0F6B5E5086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eb462f28c84840"/>
          <a:stretch xmlns:a="http://schemas.openxmlformats.org/drawingml/2006/main"/>
        </p:blipFill>
        <p:spPr>
          <a:xfrm xmlns:a="http://schemas.openxmlformats.org/drawingml/2006/main">
            <a:off x="942897" y="1857375"/>
            <a:ext cx="5067456" cy="3381375"/>
          </a:xfrm>
          <a:prstGeom xmlns:a="http://schemas.openxmlformats.org/drawingml/2006/main" prst="rect">
            <a:avLst/>
          </a:prstGeom>
        </p:spPr>
      </p:pic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F316EE3-667E-48CD-B673-0CD8F3E8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91150"/>
            <a:ext cx="581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53604F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53604F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53604F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53604F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53604F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53604F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53604F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53604F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53604F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5360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5360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3604F"/>
                </a:solidFill>
                <a:latin typeface="Arial"/>
                <a:ea typeface="Arial"/>
                <a:cs typeface="Arial"/>
              </a:rPr>
              <a:t>PHOTOGRAPH / DANIIL SILANTEV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E403BA1-0691-4F8B-B8BA-EAB86FC89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581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824"/>
                </a:solidFill>
                <a:latin typeface="Arial"/>
                <a:ea typeface="Arial"/>
                <a:cs typeface="Arial"/>
              </a:rPr>
              <a:t>I kept the deep greens and pale light, then simplified the foliage into faint corner shapes.</a:t>
            </a:r>
          </a:p>
        </p:txBody>
      </p:sp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C80BE9D2-6E82-4617-8A14-93377C1ACD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f1e15c2bf04428"/>
          <a:stretch xmlns:a="http://schemas.openxmlformats.org/drawingml/2006/main"/>
        </p:blipFill>
        <p:spPr>
          <a:xfrm xmlns:a="http://schemas.openxmlformats.org/drawingml/2006/main">
            <a:off x="6762750" y="2068354"/>
            <a:ext cx="4000500" cy="1940243"/>
          </a:xfrm>
          <a:prstGeom xmlns:a="http://schemas.openxmlformats.org/drawingml/2006/main" prst="rect">
            <a:avLst/>
          </a:prstGeom>
        </p:spPr>
      </p:pic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17137BF-9757-4A1E-9A55-88CD884F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100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53604F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53604F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53604F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53604F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53604F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53604F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53604F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53604F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53604F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5360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5360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3604F"/>
                </a:solidFill>
                <a:latin typeface="Arial"/>
                <a:ea typeface="Arial"/>
                <a:cs typeface="Arial"/>
              </a:rPr>
              <a:t>PAINTING / OGATA KŌRIN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5C38468-8AD3-4BDC-A728-55FD74EA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72025"/>
            <a:ext cx="4000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824"/>
                </a:solidFill>
                <a:latin typeface="Arial"/>
                <a:ea typeface="Arial"/>
                <a:cs typeface="Arial"/>
              </a:rPr>
              <a:t>The plant silhouettes suggested simple decoration. I left out the gold and blue so the exchange stays quiet.</a:t>
            </a:r>
          </a:p>
        </p:txBody>
      </p:sp>
      <p:graphicFrame>
        <p:nvGraphicFramePr>
          <p:cNvPr id="10" name="Table 9">
            <a:extLst xmlns:a="http://schemas.openxmlformats.org/drawingml/2006/main">
              <a:ext uri="{FF2B5EF4-FFF2-40B4-BE49-F238E27FC236}">
                <a16:creationId xmlns:a16="http://schemas.microsoft.com/office/drawing/2014/main" id="{6692AB0B-4B91-4D0E-984F-109F6BE4D9A9}"/>
              </a:ext>
            </a:extLst>
          </p:cNvPr>
          <p:cNvGraphicFramePr/>
          <p:nvPr/>
        </p:nvGraphicFramePr>
        <p:xfrm>
          <a:off xmlns:a="http://schemas.openxmlformats.org/drawingml/2006/main" x="571500" y="6762750"/>
          <a:ext xmlns:a="http://schemas.openxmlformats.org/drawingml/2006/main" cx="10191750" cy="1095376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38350"/>
                <a:gridCol w="2038350"/>
                <a:gridCol w="2038350"/>
                <a:gridCol w="2038350"/>
                <a:gridCol w="2038350"/>
              </a:tblGrid>
              <a:tr h="54768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Main action</a:t>
                      </a:r>
                    </a:p>
                  </a:txBody>
                  <a:tcPr marL="91440" marR="91440" marT="45720" marB="45720">
                    <a:solidFill>
                      <a:srgbClr val="264B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2824"/>
                          </a:solidFill>
                          <a:latin typeface="Arial"/>
                          <a:ea typeface="Arial"/>
                          <a:cs typeface="Arial"/>
                        </a:rPr>
                        <a:t>Quiet grouping</a:t>
                      </a:r>
                    </a:p>
                  </a:txBody>
                  <a:tcPr marL="91440" marR="91440" marT="45720" marB="45720">
                    <a:solidFill>
                      <a:srgbClr val="EDF1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2824"/>
                          </a:solidFill>
                          <a:latin typeface="Arial"/>
                          <a:ea typeface="Arial"/>
                          <a:cs typeface="Arial"/>
                        </a:rPr>
                        <a:t>Page background</a:t>
                      </a:r>
                    </a:p>
                  </a:txBody>
                  <a:tcPr marL="91440" marR="91440" marT="45720" marB="45720">
                    <a:solidFill>
                      <a:srgbClr val="F8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Main text</a:t>
                      </a:r>
                    </a:p>
                  </a:txBody>
                  <a:tcPr marL="91440" marR="91440" marT="45720" marB="45720">
                    <a:solidFill>
                      <a:srgbClr val="2428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Input error</a:t>
                      </a:r>
                    </a:p>
                  </a:txBody>
                  <a:tcPr marL="91440" marR="91440" marT="45720" marB="45720">
                    <a:solidFill>
                      <a:srgbClr val="8D3624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#264B3C</a:t>
                      </a:r>
                    </a:p>
                  </a:txBody>
                  <a:tcPr marL="91440" marR="91440" marT="45720" marB="45720">
                    <a:solidFill>
                      <a:srgbClr val="264B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2824"/>
                          </a:solidFill>
                          <a:latin typeface="Arial"/>
                          <a:ea typeface="Arial"/>
                          <a:cs typeface="Arial"/>
                        </a:rPr>
                        <a:t>#EDF1E6</a:t>
                      </a:r>
                    </a:p>
                  </a:txBody>
                  <a:tcPr marL="91440" marR="91440" marT="45720" marB="45720">
                    <a:solidFill>
                      <a:srgbClr val="EDF1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2824"/>
                          </a:solidFill>
                          <a:latin typeface="Arial"/>
                          <a:ea typeface="Arial"/>
                          <a:cs typeface="Arial"/>
                        </a:rPr>
                        <a:t>#F8F8F4</a:t>
                      </a:r>
                    </a:p>
                  </a:txBody>
                  <a:tcPr marL="91440" marR="91440" marT="45720" marB="45720">
                    <a:solidFill>
                      <a:srgbClr val="F8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#242824</a:t>
                      </a:r>
                    </a:p>
                  </a:txBody>
                  <a:tcPr marL="91440" marR="91440" marT="45720" marB="45720">
                    <a:solidFill>
                      <a:srgbClr val="2428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#8D3624</a:t>
                      </a:r>
                    </a:p>
                  </a:txBody>
                  <a:tcPr marL="91440" marR="91440" marT="45720" marB="45720">
                    <a:solidFill>
                      <a:srgbClr val="8D3624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0FFB2CD-F3F3-4AB3-9E4E-4932FFA3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1857375"/>
            <a:ext cx="338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64B3C"/>
                </a:solidFill>
                <a:latin typeface="Arial"/>
                <a:ea typeface="Arial"/>
                <a:cs typeface="Arial"/>
              </a:rPr>
              <a:t>Used: shared sage area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F2A5654-52D2-49FD-91E9-A3367D4E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295525"/>
            <a:ext cx="3381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824"/>
                </a:solidFill>
                <a:latin typeface="Arial"/>
                <a:ea typeface="Arial"/>
                <a:cs typeface="Arial"/>
              </a:rPr>
              <a:t>One pale sage area holds both offers with equal space. Dark green marks actions and initials, giving the exchange more presence.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BB23B1B-73E2-458E-9BE3-081CF1E5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952875"/>
            <a:ext cx="338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64B3C"/>
                </a:solidFill>
                <a:latin typeface="Arial"/>
                <a:ea typeface="Arial"/>
                <a:cs typeface="Arial"/>
              </a:rPr>
              <a:t>Used: a quiet canvas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B3C1C042-3FAD-416A-B1F0-F8C5C549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391025"/>
            <a:ext cx="3381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824"/>
                </a:solidFill>
                <a:latin typeface="Arial"/>
                <a:ea typeface="Arial"/>
                <a:cs typeface="Arial"/>
              </a:rPr>
              <a:t>A few pale leaves sit at the edges of an off-white canvas. Text stays dark, and clear field borders keep controls visible.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B3FC1DC5-14BA-4203-B41E-3DCF5082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048375"/>
            <a:ext cx="338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264B3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64B3C"/>
                </a:solidFill>
                <a:latin typeface="Arial"/>
                <a:ea typeface="Arial"/>
                <a:cs typeface="Arial"/>
              </a:rPr>
              <a:t>Used: neutral limits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84FE31F2-5E99-4186-90C5-A5F6D59DF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381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24282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824"/>
                </a:solidFill>
                <a:latin typeface="Arial"/>
                <a:ea typeface="Arial"/>
                <a:cs typeface="Arial"/>
              </a:rPr>
              <a:t>Unreadable pages and missing dates stay neutral. Rust marks input errors. Text labels explain every state without relying on color.</a:t>
            </a:r>
          </a:p>
        </p:txBody>
      </p:sp>
    </p:spTree>
    <p:extLst>
      <p:ext uri="{BB962C8B-B14F-4D97-AF65-F5344CB8AC3E}">
        <p14:creationId xmlns:p14="http://schemas.microsoft.com/office/powerpoint/2010/main" val="14145239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2026-10-20T03:46:21.9650000Z</dcterms:created>
  <dcterms:modified xsi:type="dcterms:W3CDTF">2026-10-20T03:46:21.9650000Z</dcterms:modified>
</coreProperties>
</file>